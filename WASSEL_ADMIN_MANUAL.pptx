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4937760" y="1097280"/>
            <a:ext cx="2286000" cy="2286000"/>
          </a:xfrm>
          <a:prstGeom prst="rect">
            <a:avLst>
              <a:gd name="adj" fmla="val 12000"/>
            </a:avLst>
          </a:prstGeom>
          <a:solidFill>
            <a:srgbClr val="2A4A6F"/>
          </a:solidFill>
          <a:ln/>
        </p:spPr>
      </p:sp>
      <p:sp>
        <p:nvSpPr>
          <p:cNvPr id="4" name="Text 2"/>
          <p:cNvSpPr/>
          <p:nvPr/>
        </p:nvSpPr>
        <p:spPr>
          <a:xfrm>
            <a:off x="4937760" y="13716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وصّل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937760" y="2560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WASSEL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دليل مدير النظام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14400" y="4754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Administrator Manual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B4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الإصدار 2.0 — أبريل 2026 | Version 2.0 — April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سري — للاستخدام الداخلي فقط | Confidential — Internal Use Only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0" y="6400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 / 19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جدول المحتويات | Table of Contents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45720"/>
          </a:xfrm>
          <a:prstGeom prst="rect">
            <a:avLst/>
          </a:prstGeom>
          <a:solidFill>
            <a:srgbClr val="FF6B35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114800"/>
                <a:gridCol w="41148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القسم (AR)</a:t>
                      </a:r>
                      <a:endParaRPr lang="en-US" sz="12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Section (EN)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Slides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نظرة عامة على لوحة التحكم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Admin Dashboard Overview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3-4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إدارة المستخدمين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User Management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5-6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مراقبة الحملات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Campaign Monitoring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7-8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إدارة التوكنات والاشتراكات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Token &amp; Subscription Management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9-10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مراقبة النظام والأمان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System Monitoring &amp; Security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11-12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إدارة API والتكاملات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API &amp; Integrations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13-14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التقارير والتحليلات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Reports &amp; Analytics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15-16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استكشاف الأخطاء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Troubleshooting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17-18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الخلاصة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Summary &amp; Back Cover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19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72400" y="6400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 / 19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نظرة عامة على لوحة التحكم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Dashboard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45920"/>
            <a:ext cx="2560320" cy="1645920"/>
          </a:xfrm>
          <a:prstGeom prst="rect">
            <a:avLst>
              <a:gd name="adj" fmla="val 8333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2,450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إجمالي المستخدمين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Total Users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645920"/>
            <a:ext cx="2560320" cy="1645920"/>
          </a:xfrm>
          <a:prstGeom prst="rect">
            <a:avLst>
              <a:gd name="adj" fmla="val 8333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91840" y="2148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1,203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2606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المستخدمون النشطون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Active Users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645920"/>
            <a:ext cx="2560320" cy="1645920"/>
          </a:xfrm>
          <a:prstGeom prst="rect">
            <a:avLst>
              <a:gd name="adj" fmla="val 8333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26480" y="2148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45,200 SAR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0" y="2606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الإيرادات الشهرية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Monthly Revenue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961120" y="1645920"/>
            <a:ext cx="2560320" cy="1645920"/>
          </a:xfrm>
          <a:prstGeom prst="rect">
            <a:avLst>
              <a:gd name="adj" fmla="val 8333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6112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📧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961120" y="2148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052560" y="2606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الحملات النشطة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Active Campaigns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الوصول إلى لوحة التحكم | Accessing the Admin Panel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1. سجّل الدخول بحساب المدير | Log in with admin account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617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2. انتقل إلى /admin | Navigate to /admin route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029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3. يظهر لك Dashboard مع KPIs | Dashboard with KPIs appears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440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4. القائمة الجانبية تحتوي على كل الأقسام | Sidebar has all sections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943600"/>
            <a:ext cx="10972800" cy="365760"/>
          </a:xfrm>
          <a:prstGeom prst="rect">
            <a:avLst>
              <a:gd name="adj" fmla="val 25000"/>
            </a:avLst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⚠️ فقط المستخدمون بصلاحية admin يمكنهم الوصول | Only admin-role users can access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0" y="6400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 / 19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تخطيط لوحة التحكم والتنقل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Layout &amp; Navigation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45920"/>
            <a:ext cx="2743200" cy="4572000"/>
          </a:xfrm>
          <a:prstGeom prst="rect">
            <a:avLst>
              <a:gd name="adj" fmla="val 5000"/>
            </a:avLst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القائمة الجانبية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Sidebar Menu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2377440" cy="347472"/>
          </a:xfrm>
          <a:prstGeom prst="rect">
            <a:avLst>
              <a:gd name="adj" fmla="val 21053"/>
            </a:avLst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774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📊  لوحة المعلومات | Dashboard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2377440" cy="347472"/>
          </a:xfrm>
          <a:prstGeom prst="rect">
            <a:avLst>
              <a:gd name="adj" fmla="val 21053"/>
            </a:avLst>
          </a:prstGeom>
          <a:solidFill>
            <a:srgbClr val="2A4A6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889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👥  المستخدمون | Users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2377440" cy="347472"/>
          </a:xfrm>
          <a:prstGeom prst="rect">
            <a:avLst>
              <a:gd name="adj" fmla="val 21053"/>
            </a:avLst>
          </a:prstGeom>
          <a:solidFill>
            <a:srgbClr val="2A4A6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2004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📧  الحملات | Campaigns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611880"/>
            <a:ext cx="2377440" cy="347472"/>
          </a:xfrm>
          <a:prstGeom prst="rect">
            <a:avLst>
              <a:gd name="adj" fmla="val 21053"/>
            </a:avLst>
          </a:prstGeom>
          <a:solidFill>
            <a:srgbClr val="2A4A6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6118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🪙  التوكنات | Tokens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2377440" cy="347472"/>
          </a:xfrm>
          <a:prstGeom prst="rect">
            <a:avLst>
              <a:gd name="adj" fmla="val 21053"/>
            </a:avLst>
          </a:prstGeom>
          <a:solidFill>
            <a:srgbClr val="2A4A6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233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💳  الاشتراكات | Subscriptions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4434840"/>
            <a:ext cx="2377440" cy="347472"/>
          </a:xfrm>
          <a:prstGeom prst="rect">
            <a:avLst>
              <a:gd name="adj" fmla="val 21053"/>
            </a:avLst>
          </a:prstGeom>
          <a:solidFill>
            <a:srgbClr val="2A4A6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434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⚙️  إعدادات النظام | Settings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2377440" cy="347472"/>
          </a:xfrm>
          <a:prstGeom prst="rect">
            <a:avLst>
              <a:gd name="adj" fmla="val 21053"/>
            </a:avLst>
          </a:prstGeom>
          <a:solidFill>
            <a:srgbClr val="2A4A6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8463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📈  التقارير | Reports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5257800"/>
            <a:ext cx="2377440" cy="347472"/>
          </a:xfrm>
          <a:prstGeom prst="rect">
            <a:avLst>
              <a:gd name="adj" fmla="val 21053"/>
            </a:avLst>
          </a:prstGeom>
          <a:solidFill>
            <a:srgbClr val="2A4A6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2578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🔒  الأمان | Security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5669280"/>
            <a:ext cx="2377440" cy="347472"/>
          </a:xfrm>
          <a:prstGeom prst="rect">
            <a:avLst>
              <a:gd name="adj" fmla="val 21053"/>
            </a:avLst>
          </a:prstGeom>
          <a:solidFill>
            <a:srgbClr val="2A4A6F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6692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🔌  التكاملات | Integrations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0" y="1645920"/>
            <a:ext cx="7955280" cy="4572000"/>
          </a:xfrm>
          <a:prstGeom prst="rect">
            <a:avLst>
              <a:gd name="adj" fmla="val 3000"/>
            </a:avLst>
          </a:prstGeom>
          <a:solidFill>
            <a:srgbClr val="F0F4F8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18288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المحتوى الرئيسي | Main Content Area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40480" y="2560320"/>
            <a:ext cx="347472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977640" y="2560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البحث والفلترة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Search &amp; Filter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77640" y="31089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ابحث عن أي مستخدم أو حملة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Search any user or campaign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680960" y="2560320"/>
            <a:ext cx="347472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7818120" y="2560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التصدير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Export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818120" y="31089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تصدير البيانات CSV/Excel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Export data as CSV/Excel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840480" y="4023360"/>
            <a:ext cx="347472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3977640" y="40233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الإشعارات الفورية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Real-time Alerts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977640" y="4572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تنبيهات للأحداث المهمة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Alerts for critical events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680960" y="4023360"/>
            <a:ext cx="347472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7818120" y="40233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السجلات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Audit Logs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818120" y="4572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تتبع كل الإجراءات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Track all admin actions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72400" y="6400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4 / 19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إدارة المستخدمين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Management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FF6B35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54480"/>
          <a:ext cx="11430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1645920"/>
                <a:gridCol w="164592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المستخدم | User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البريد | Email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الخطة | Plan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التوكنات | Tokens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الحالة | Status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إجراءات | Actions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أحمد الغامدي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ahmed@co.sa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 (199 SAR)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450 / 500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✅ نشط</a:t>
                      </a:r>
                      <a:endParaRPr lang="en-US" sz="9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✏️ 🔒 🗑️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سارة المطيري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sara@biz.sa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Free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 / 10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✅ نشط</a:t>
                      </a:r>
                      <a:endParaRPr lang="en-US" sz="9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✏️ 🔒 🗑️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خالد العتيبي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khalid@xyz.sa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Enterprise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1200 / 2000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⛔ محظور</a:t>
                      </a:r>
                      <a:endParaRPr lang="en-US" sz="9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✏️ 🔓 🗑️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إجراءات المدير | Admin Actions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43891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✏️  تعديل — تغيير الخطة، إضافة توكنات، تعديل البيانات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  Edit — Change plan, add tokens, modify data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48006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🔒  حظر — إيقاف حساب المستخدم مؤقتاً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  Ban — Temporarily suspend user account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52120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🔓  إلغاء الحظر — إعادة تفعيل الحساب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  Unban — Reactivate account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6235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🗑️  حذف — حذف الحساب نهائياً (لا يمكن التراجع)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  Delete — Permanently remove account (irreversible)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60350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🪙  إضافة توكنات — منح توكنات مجانية للمستخدم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  Add Tokens — Grant free tokens to user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0" y="6400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5 / 19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التحقق من المستخدمين والفلاتر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Verification &amp; Filters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خيارات الفلترة | Filter Options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029200" cy="411480"/>
          </a:xfrm>
          <a:prstGeom prst="rect">
            <a:avLst>
              <a:gd name="adj" fmla="val 17778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03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حسب الخطة | By Plan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2103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/ Starter / Pro / Enterprise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5029200" cy="411480"/>
          </a:xfrm>
          <a:prstGeom prst="rect">
            <a:avLst>
              <a:gd name="adj" fmla="val 17778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06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حسب الحالة | By Status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2606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/ Banned / Pending / Expired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5029200" cy="411480"/>
          </a:xfrm>
          <a:prstGeom prst="rect">
            <a:avLst>
              <a:gd name="adj" fmla="val 17778"/>
            </a:avLst>
          </a:prstGeom>
          <a:solidFill>
            <a:srgbClr val="F0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08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حسب التاريخ | By Date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3108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Registration date range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5029200" cy="411480"/>
          </a:xfrm>
          <a:prstGeom prst="rect">
            <a:avLst>
              <a:gd name="adj" fmla="val 17778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11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حسب النشاط | By Activity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3611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login, campaigns created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5029200" cy="411480"/>
          </a:xfrm>
          <a:prstGeom prst="rect">
            <a:avLst>
              <a:gd name="adj" fmla="val 17778"/>
            </a:avLst>
          </a:prstGeom>
          <a:solidFill>
            <a:srgbClr val="F0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14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حسب التوكنات | By Tokens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0" y="4114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balance / High usage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0" y="1554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عملية التحقق | Verification Flow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26480" y="2103120"/>
            <a:ext cx="457200" cy="457200"/>
          </a:xfrm>
          <a:prstGeom prst="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66560" y="21031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مستخدم جديد يسجّل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New user registers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2578608"/>
            <a:ext cx="73152" cy="1645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Shape 24"/>
          <p:cNvSpPr/>
          <p:nvPr/>
        </p:nvSpPr>
        <p:spPr>
          <a:xfrm>
            <a:off x="6126480" y="2743200"/>
            <a:ext cx="457200" cy="457200"/>
          </a:xfrm>
          <a:prstGeom prst="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66560" y="27432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يتم إرسال رمز تحقق بالبريد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Verification code sent via email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3218688"/>
            <a:ext cx="73152" cy="1645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0" name="Shape 28"/>
          <p:cNvSpPr/>
          <p:nvPr/>
        </p:nvSpPr>
        <p:spPr>
          <a:xfrm>
            <a:off x="6126480" y="3383280"/>
            <a:ext cx="457200" cy="457200"/>
          </a:xfrm>
          <a:prstGeom prst="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66560" y="33832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المستخدم يؤكد بريده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User confirms email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09360" y="3858768"/>
            <a:ext cx="73152" cy="1645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4" name="Shape 32"/>
          <p:cNvSpPr/>
          <p:nvPr/>
        </p:nvSpPr>
        <p:spPr>
          <a:xfrm>
            <a:off x="6126480" y="4023360"/>
            <a:ext cx="457200" cy="457200"/>
          </a:xfrm>
          <a:prstGeom prst="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5" name="Text 33"/>
          <p:cNvSpPr/>
          <p:nvPr/>
        </p:nvSpPr>
        <p:spPr>
          <a:xfrm>
            <a:off x="61264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66560" y="40233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الحساب يصبح نشط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Account becomes active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09360" y="4498848"/>
            <a:ext cx="73152" cy="1645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8" name="Shape 36"/>
          <p:cNvSpPr/>
          <p:nvPr/>
        </p:nvSpPr>
        <p:spPr>
          <a:xfrm>
            <a:off x="6126480" y="4663440"/>
            <a:ext cx="457200" cy="457200"/>
          </a:xfrm>
          <a:prstGeom prst="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766560" y="46634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المدير يراجع (اختياري)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Admin reviews (optional)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5029200"/>
            <a:ext cx="10972800" cy="1097280"/>
          </a:xfrm>
          <a:prstGeom prst="rect">
            <a:avLst>
              <a:gd name="adj" fmla="val 12500"/>
            </a:avLst>
          </a:prstGeom>
          <a:solidFill>
            <a:srgbClr val="F0F4F8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الإجراءات الجماعية | Bulk Actions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40080" y="5486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حدد عدة مستخدمين ← اختر الإجراء (حظر/إلغاء حظر/إضافة توكنات/تغيير خطة) ← تأكيد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Select multiple users → Choose action (Ban/Unban/Add tokens/Change plan) → Confirm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72400" y="6400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6 / 19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مراقبة الحملات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 Monitoring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2560320" cy="1371600"/>
          </a:xfrm>
          <a:prstGeom prst="rect">
            <a:avLst>
              <a:gd name="adj" fmla="val 8000"/>
            </a:avLst>
          </a:prstGeom>
          <a:solidFill>
            <a:srgbClr val="F0F4F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1,847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إجمالي الحملات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Total Campaigns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2560320" cy="1371600"/>
          </a:xfrm>
          <a:prstGeom prst="rect">
            <a:avLst>
              <a:gd name="adj" fmla="val 8000"/>
            </a:avLst>
          </a:prstGeom>
          <a:solidFill>
            <a:srgbClr val="F0F4F8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645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0" y="2286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نشطة الآن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Currently Active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2560320" cy="1371600"/>
          </a:xfrm>
          <a:prstGeom prst="rect">
            <a:avLst>
              <a:gd name="adj" fmla="val 8000"/>
            </a:avLst>
          </a:prstGeom>
          <a:solidFill>
            <a:srgbClr val="F0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1645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26480" y="2286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معلّقة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Paused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61120" y="1554480"/>
            <a:ext cx="2560320" cy="1371600"/>
          </a:xfrm>
          <a:prstGeom prst="rect">
            <a:avLst>
              <a:gd name="adj" fmla="val 8000"/>
            </a:avLst>
          </a:prstGeom>
          <a:solidFill>
            <a:srgbClr val="F0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0" y="1645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1,416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961120" y="2286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مكتملة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تفاصيل الحملات الأخيرة | Recent Campaign Details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749040"/>
          <a:ext cx="11430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371600"/>
                <a:gridCol w="18288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الحملة | Campaign</a:t>
                      </a:r>
                      <a:endParaRPr lang="en-US" sz="9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المالك | Owner</a:t>
                      </a:r>
                      <a:endParaRPr lang="en-US" sz="9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الرسائل | Emails</a:t>
                      </a:r>
                      <a:endParaRPr lang="en-US" sz="9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معدل الفتح | Open Rate</a:t>
                      </a:r>
                      <a:endParaRPr lang="en-US" sz="9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معدل الرد | Reply Rate</a:t>
                      </a:r>
                      <a:endParaRPr lang="en-US" sz="9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الحالة | Status</a:t>
                      </a:r>
                      <a:endParaRPr lang="en-US" sz="9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حملة رؤية 2030</a:t>
                      </a:r>
                      <a:endParaRPr lang="en-US" sz="9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أحمد</a:t>
                      </a:r>
                      <a:endParaRPr lang="en-US" sz="9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500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42%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🟢 نشطة</a:t>
                      </a:r>
                      <a:endParaRPr lang="en-US" sz="9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توظيف مطورين</a:t>
                      </a:r>
                      <a:endParaRPr lang="en-US" sz="9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سارة</a:t>
                      </a:r>
                      <a:endParaRPr lang="en-US" sz="9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250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38%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6B35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🟡 معلّقة</a:t>
                      </a:r>
                      <a:endParaRPr lang="en-US" sz="9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57200" y="5212080"/>
            <a:ext cx="10972800" cy="1005840"/>
          </a:xfrm>
          <a:prstGeom prst="rect">
            <a:avLst>
              <a:gd name="adj" fmla="val 10909"/>
            </a:avLst>
          </a:prstGeom>
          <a:solidFill>
            <a:srgbClr val="1E3A5F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303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صلاحيات المدير: إيقاف حملة | حذف حملة | تصدير التقرير | إعادة إرسال الرسائل المرتجعة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008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Powers: Pause campaign | Delete campaign | Export report | Resend bounced emails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772400" y="6400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7 / 19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تنبيهات الحملات والأداء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 Alerts &amp; Performance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أنواع التنبيهات | Alert Types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303520" cy="685800"/>
          </a:xfrm>
          <a:prstGeom prst="rect">
            <a:avLst>
              <a:gd name="adj" fmla="val 13333"/>
            </a:avLst>
          </a:prstGeom>
          <a:solidFill>
            <a:srgbClr val="FEF2F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03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🔴 حرج | Critical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معدل ارتجاع &gt; 10% — إيقاف الحملة فوراً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Bounce rate &gt; 10% — Stop campaign immediately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5303520" cy="685800"/>
          </a:xfrm>
          <a:prstGeom prst="rect">
            <a:avLst>
              <a:gd name="adj" fmla="val 13333"/>
            </a:avLst>
          </a:prstGeom>
          <a:solidFill>
            <a:srgbClr val="FEFCE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🟡 تحذير | Warning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معدل فتح &lt; 15% — مراجعة عنوان الرسالة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Open rate &lt; 15% — Review email subject line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5303520" cy="685800"/>
          </a:xfrm>
          <a:prstGeom prst="rect">
            <a:avLst>
              <a:gd name="adj" fmla="val 13333"/>
            </a:avLst>
          </a:prstGeom>
          <a:solidFill>
            <a:srgbClr val="EF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490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🔵 معلومات | Info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حملة اكتملت — عرض التقرير النهائي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Campaign completed — View final report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4572000"/>
            <a:ext cx="5303520" cy="685800"/>
          </a:xfrm>
          <a:prstGeom prst="rect">
            <a:avLst>
              <a:gd name="adj" fmla="val 13333"/>
            </a:avLst>
          </a:prstGeom>
          <a:solidFill>
            <a:srgbClr val="F0FDF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5720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🟢 نجاح | Success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846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معدل رد &gt; 20% — أداء ممتاز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Reply rate &gt; 20% — Excellent performance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0" y="1554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معايير الأداء | Performance Benchmarks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103120"/>
          <a:ext cx="50292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09728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المقياس | Metric</a:t>
                      </a:r>
                      <a:endParaRPr lang="en-US" sz="9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🟢 جيد | Good</a:t>
                      </a:r>
                      <a:endParaRPr lang="en-US" sz="9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🟡 متوسط | Avg</a:t>
                      </a:r>
                      <a:endParaRPr lang="en-US" sz="9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🔴 ضعيف | Bad</a:t>
                      </a:r>
                      <a:endParaRPr lang="en-US" sz="9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معدل الفتح | Open Rate</a:t>
                      </a:r>
                      <a:endParaRPr lang="en-US" sz="9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&gt; 35%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6B3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20-35%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&lt; 20%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معدل الرد | Reply Rate</a:t>
                      </a:r>
                      <a:endParaRPr lang="en-US" sz="9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&gt; 15%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6B3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5-15%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&lt; 5%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معدل الارتجاع | Bounce Rate</a:t>
                      </a:r>
                      <a:endParaRPr lang="en-US" sz="9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&lt; 3%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6B3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3-8%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&gt; 8%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إلغاء الاشتراك | Unsubscribe</a:t>
                      </a:r>
                      <a:endParaRPr lang="en-US" sz="9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&lt; 1%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6B3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1-3%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&gt; 3%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7772400" y="6400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8 / 19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إدارة التوكنات والاشتراكات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&amp; Subscription Management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554480"/>
            <a:ext cx="2743200" cy="3200400"/>
          </a:xfrm>
          <a:prstGeom prst="rect">
            <a:avLst>
              <a:gd name="adj" fmla="val 5000"/>
            </a:avLst>
          </a:prstGeom>
          <a:solidFill>
            <a:srgbClr val="F0F4F8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554480"/>
            <a:ext cx="2743200" cy="731520"/>
          </a:xfrm>
          <a:prstGeom prst="rect">
            <a:avLst>
              <a:gd name="adj" fmla="val 18750"/>
            </a:avLst>
          </a:prstGeom>
          <a:solidFill>
            <a:srgbClr val="6B728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2011680"/>
            <a:ext cx="2743200" cy="36576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600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مجاني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Free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SAR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10 توكن/شهر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تحليل LinkedIn أساسي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تعديل واحد للسيرة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بدون حملات بريد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554480"/>
            <a:ext cx="2743200" cy="3200400"/>
          </a:xfrm>
          <a:prstGeom prst="rect">
            <a:avLst>
              <a:gd name="adj" fmla="val 5000"/>
            </a:avLst>
          </a:prstGeom>
          <a:solidFill>
            <a:srgbClr val="F0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0" y="1554480"/>
            <a:ext cx="2743200" cy="731520"/>
          </a:xfrm>
          <a:prstGeom prst="rect">
            <a:avLst>
              <a:gd name="adj" fmla="val 18750"/>
            </a:avLst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2011680"/>
            <a:ext cx="274320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600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مبتدئ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Starter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 SAR/شهر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00400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100 توكن/شهر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31089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تحليل LinkedIn كامل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5 تعديلات سيرة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حملة واحدة (100 بريد)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554480"/>
            <a:ext cx="2743200" cy="3200400"/>
          </a:xfrm>
          <a:prstGeom prst="rect">
            <a:avLst>
              <a:gd name="adj" fmla="val 5000"/>
            </a:avLst>
          </a:prstGeom>
          <a:solidFill>
            <a:srgbClr val="F0F4F8"/>
          </a:solidFill>
          <a:ln/>
        </p:spPr>
      </p:sp>
      <p:sp>
        <p:nvSpPr>
          <p:cNvPr id="20" name="Shape 18"/>
          <p:cNvSpPr/>
          <p:nvPr/>
        </p:nvSpPr>
        <p:spPr>
          <a:xfrm>
            <a:off x="6126480" y="1554480"/>
            <a:ext cx="2743200" cy="731520"/>
          </a:xfrm>
          <a:prstGeom prst="rect">
            <a:avLst>
              <a:gd name="adj" fmla="val 18750"/>
            </a:avLst>
          </a:prstGeom>
          <a:solidFill>
            <a:srgbClr val="FF6B35"/>
          </a:solidFill>
          <a:ln/>
        </p:spPr>
      </p:sp>
      <p:sp>
        <p:nvSpPr>
          <p:cNvPr id="21" name="Shape 19"/>
          <p:cNvSpPr/>
          <p:nvPr/>
        </p:nvSpPr>
        <p:spPr>
          <a:xfrm>
            <a:off x="6126480" y="2011680"/>
            <a:ext cx="2743200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1600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احترافي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Pro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2648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 SAR/شهر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26480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500 توكن/شهر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31089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كل مميزات Starter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حملات غير محدودة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تقارير متقدمة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052560" y="1554480"/>
            <a:ext cx="2743200" cy="3200400"/>
          </a:xfrm>
          <a:prstGeom prst="rect">
            <a:avLst>
              <a:gd name="adj" fmla="val 5000"/>
            </a:avLst>
          </a:prstGeom>
          <a:solidFill>
            <a:srgbClr val="F0F4F8"/>
          </a:solidFill>
          <a:ln/>
        </p:spPr>
      </p:sp>
      <p:sp>
        <p:nvSpPr>
          <p:cNvPr id="27" name="Shape 25"/>
          <p:cNvSpPr/>
          <p:nvPr/>
        </p:nvSpPr>
        <p:spPr>
          <a:xfrm>
            <a:off x="9052560" y="1554480"/>
            <a:ext cx="2743200" cy="731520"/>
          </a:xfrm>
          <a:prstGeom prst="rect">
            <a:avLst>
              <a:gd name="adj" fmla="val 18750"/>
            </a:avLst>
          </a:prstGeom>
          <a:solidFill>
            <a:srgbClr val="1E3A5F"/>
          </a:solidFill>
          <a:ln/>
        </p:spPr>
      </p:sp>
      <p:sp>
        <p:nvSpPr>
          <p:cNvPr id="28" name="Shape 26"/>
          <p:cNvSpPr/>
          <p:nvPr/>
        </p:nvSpPr>
        <p:spPr>
          <a:xfrm>
            <a:off x="9052560" y="2011680"/>
            <a:ext cx="274320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9052560" y="1600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مؤسسي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05256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299 SAR/شهر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052560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2000 توكن/شهر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235440" y="31089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كل مميزات Pro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API كامل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دعم مخصص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تحليلات متقدمة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5029200"/>
            <a:ext cx="10972800" cy="1188720"/>
          </a:xfrm>
          <a:prstGeom prst="rect">
            <a:avLst>
              <a:gd name="adj" fmla="val 9231"/>
            </a:avLst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صلاحيات المدير في الاشتراكات | Admin Subscription Controls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5577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ترقية/تخفيض خطة مستخدم | تمديد اشتراك مجاناً | إلغاء اشتراك | عرض سجل المدفوعات | إصدار فاتورة | استرداد المبلغ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5852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Upgrade/downgrade user plan | Extend subscription free | Cancel subscription | View payment history | Issue invoice | Process refund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0" y="6400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9 / 19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إدارة التوكنات المتقدمة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Token Management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تكلفة التوكنات | Token Cost Breakdown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011680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594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العملية | Operation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التوكنات | Tokens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الوصف | Description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تحليل LinkedIn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تحليل كامل للملف الشخصي + توصيات</a:t>
                      </a:r>
                      <a:endParaRPr lang="en-US" sz="9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تعديل السيرة الذاتية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تخصيص CV لوظيفة محددة</a:t>
                      </a:r>
                      <a:endParaRPr lang="en-US" sz="9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إرسال بريد حملة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توكن واحد لكل بريد مرسل</a:t>
                      </a:r>
                      <a:endParaRPr lang="en-US" sz="9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اكتشاف جهة اتصال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العثور على بريد صانع القرار</a:t>
                      </a:r>
                      <a:endParaRPr lang="en-US" sz="9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توليد رسالة AI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كتابة رسالة مخصصة بالذكاء الاصطناعي</a:t>
                      </a:r>
                      <a:endParaRPr lang="en-US" sz="9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تتبع الإيرادات | Revenue Tracking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5212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📊 الإيرادات الشهرية المتكررة (MRR) — Monthly Recurring Revenue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55321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📈 معدل النمو الشهري — Monthly Growth Rate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8521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💳 تفاصيل المدفوعات (Moyasar/Tap) — Payment details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6172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🔄 معدل التجديد وإلغاء الاشتراك — Renewal &amp; Churn rate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0" y="6400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10 / 19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مراقبة النظام والأمان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Monitoring &amp; Security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2560320" cy="1371600"/>
          </a:xfrm>
          <a:prstGeom prst="rect">
            <a:avLst>
              <a:gd name="adj" fmla="val 8000"/>
            </a:avLst>
          </a:prstGeom>
          <a:solidFill>
            <a:srgbClr val="F0F4F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API Server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خادم API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🟢 99.9%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Serverless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560320" cy="1371600"/>
          </a:xfrm>
          <a:prstGeom prst="rect">
            <a:avLst>
              <a:gd name="adj" fmla="val 8000"/>
            </a:avLst>
          </a:prstGeom>
          <a:solidFill>
            <a:srgbClr val="F0F4F8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645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Database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قاعدة البيانات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🟢 100%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2468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 PostgreSQL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554480"/>
            <a:ext cx="2560320" cy="1371600"/>
          </a:xfrm>
          <a:prstGeom prst="rect">
            <a:avLst>
              <a:gd name="adj" fmla="val 8000"/>
            </a:avLst>
          </a:prstGeom>
          <a:solidFill>
            <a:srgbClr val="F0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645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AI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خدمة الذكاء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🟢 99.5%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26480" y="2468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API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961120" y="1554480"/>
            <a:ext cx="2560320" cy="1371600"/>
          </a:xfrm>
          <a:prstGeom prst="rect">
            <a:avLst>
              <a:gd name="adj" fmla="val 8000"/>
            </a:avLst>
          </a:prstGeom>
          <a:solidFill>
            <a:srgbClr val="F0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0" y="1645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Email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خدمة البريد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6112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🟡 98.2%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61120" y="2468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SendGrid/Apify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ميزات الأمان | Security Features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🔐  Row Level Security (RLS)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 مستخدم يرى بياناته فقط — مطبق على Supabase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Each user sees only their data — enforced at DB level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🔑  JWT Authentication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4251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توثيق آمن عبر Supabase Auth مع تشفير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Secure auth via Supabase Auth with encryption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🛡️  CORS Protection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0" y="4754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السماح فقط للنطاقات المعتمدة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Only approved domains allowed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5257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📋  Audit Logging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0" y="5257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تسجيل كل إجراء للمدير مع التوقيت والتفاصيل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Log every admin action with timestamp and details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" y="5760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🔒  PDPL Compliance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0" y="5760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متوافق مع نظام حماية البيانات الشخصية السعودي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Compliant with Saudi Personal Data Protection Law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6400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11 / 19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السجلات والتنبيهات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Logs &amp; System Alerts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6400800" cy="3200400"/>
          </a:xfrm>
          <a:prstGeom prst="rect">
            <a:avLst>
              <a:gd name="adj" fmla="val 4286"/>
            </a:avLst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سجل النظام | System Log Viewer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[09:23:15] [INFO] User ahmed@co.sa logged in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[09:24:02] [INFO] Campaign #1847 created by ahmed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[09:25:31] [WARN] High bounce rate detected: campaign #1832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[09:26:45] [ERROR] Apify actor timeout: email-finder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[09:27:10] [INFO] Admin ali@wassel.sa banned user spam@test.com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3611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[09:28:00] [INFO] Token purchase: khalid@xyz.sa +500 tokens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[09:29:15] [WARN] API rate limit approaching: Claude API 80%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إعداد التنبيهات | Alert Configuration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2011680"/>
          <a:ext cx="4389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المحفّز | Trigger</a:t>
                      </a:r>
                      <a:endParaRPr lang="en-US" sz="9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الإجراء | Action</a:t>
                      </a:r>
                      <a:endParaRPr lang="en-US" sz="9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API Error Rate &gt; 5%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Email + Dashboard alert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Bounce Rate &gt; 10%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Auto-pause campaign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Token Balance = 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Notify user + admin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New User Signup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Dashboard notification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Payment Failed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Email user + log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Subscription Expiring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3-day advance notice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مؤشرات يجب مراقبتها | Key Metrics to Monitor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0080" y="54864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استخدام API (Claude, Apify, SendGrid) — API Usage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0080" y="57607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وقت الاستجابة (Response Time) — يجب &lt; 500ms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معدل الأخطاء (Error Rate) — يجب &lt; 1%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0080" y="6309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استخدام قاعدة البيانات (DB Connections) — Supabase limits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772400" y="6400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12 / 19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إدارة API والتكاملات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&amp; Integration Management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نقاط API الرئيسية | Core API Endpoints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011680"/>
          <a:ext cx="11430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743200"/>
                <a:gridCol w="45720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الطريقة | Method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المسار | Endpoint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الوصف | Description</a:t>
                      </a:r>
                      <a:endParaRPr lang="en-US" sz="9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GET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/api/health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فحص حالة النظام | System health check</a:t>
                      </a:r>
                      <a:endParaRPr lang="en-US" sz="8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POST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/api/trpc/linkedin.*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تحليل LinkedIn | LinkedIn analysis</a:t>
                      </a:r>
                      <a:endParaRPr lang="en-US" sz="8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POST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/api/trpc/cv.*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تعديل السيرة الذاتية | CV tailoring</a:t>
                      </a:r>
                      <a:endParaRPr lang="en-US" sz="8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POST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/api/trpc/campaign.*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إدارة الحملات | Campaign management</a:t>
                      </a:r>
                      <a:endParaRPr lang="en-US" sz="8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POST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/api/trpc/token.*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إدارة التوكنات | Token management</a:t>
                      </a:r>
                      <a:endParaRPr lang="en-US" sz="8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POST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/api/trpc/admin.*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لوحة تحكم المدير | Admin panel</a:t>
                      </a:r>
                      <a:endParaRPr lang="en-US" sz="8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C2626"/>
                          </a:solidFill>
                        </a:rPr>
                        <a:t>🔒 Admin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846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الخدمات الخارجية | External Services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5394960"/>
            <a:ext cx="2560320" cy="914400"/>
          </a:xfrm>
          <a:prstGeom prst="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5440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57150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+ Auth + RLS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59436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SUPABASE_SERVICE_ROLE_KEY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291840" y="5394960"/>
            <a:ext cx="2560320" cy="914400"/>
          </a:xfrm>
          <a:prstGeom prst="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13" name="Text 10"/>
          <p:cNvSpPr/>
          <p:nvPr/>
        </p:nvSpPr>
        <p:spPr>
          <a:xfrm>
            <a:off x="3291840" y="5440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API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91840" y="57150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message generation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291840" y="59436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ANTHROPIC_API_KEY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126480" y="5394960"/>
            <a:ext cx="2560320" cy="914400"/>
          </a:xfrm>
          <a:prstGeom prst="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17" name="Text 14"/>
          <p:cNvSpPr/>
          <p:nvPr/>
        </p:nvSpPr>
        <p:spPr>
          <a:xfrm>
            <a:off x="6126480" y="5440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API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126480" y="57150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emails &amp; profiles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126480" y="59436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APIFY_TOKEN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8961120" y="5394960"/>
            <a:ext cx="2560320" cy="914400"/>
          </a:xfrm>
          <a:prstGeom prst="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21" name="Text 18"/>
          <p:cNvSpPr/>
          <p:nvPr/>
        </p:nvSpPr>
        <p:spPr>
          <a:xfrm>
            <a:off x="8961120" y="5440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961120" y="57150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Hosting + Serverless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961120" y="59436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Auto-configured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7772400" y="6400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13 / 19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البيئة والنشر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 &amp; Deployment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5486400" cy="3200400"/>
          </a:xfrm>
          <a:prstGeom prst="rect">
            <a:avLst>
              <a:gd name="adj" fmla="val 4286"/>
            </a:avLst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متغيرات البيئة | Environment Variables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VITE_SUPABASE_URL=https://******.supabase.co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VITE_SUPABASE_ANON_KEY=eyJ***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SUPABASE_SERVICE_ROLE_KEY=eyJ***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ANTHROPIC_API_KEY=sk-ant-***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APIFY_TOKEN=apify_api_***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3611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NODE_ENV=production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VITE_APP_URL=https://wassel.vercel.app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عملية النشر | Deployment Flow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0" y="2011680"/>
            <a:ext cx="457200" cy="457200"/>
          </a:xfrm>
          <a:prstGeom prst="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223760" y="20116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تعديل الكود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Edit code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84848" y="2487168"/>
            <a:ext cx="73152" cy="2011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0" y="2697480"/>
            <a:ext cx="457200" cy="457200"/>
          </a:xfrm>
          <a:prstGeom prst="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23760" y="26974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git commit &amp; push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إرسال للمستودع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84848" y="3172968"/>
            <a:ext cx="73152" cy="2011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0" y="3383280"/>
            <a:ext cx="457200" cy="457200"/>
          </a:xfrm>
          <a:prstGeom prst="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223760" y="33832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Vercel auto-deploy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نشر تلقائي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84848" y="3858768"/>
            <a:ext cx="73152" cy="2011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7" name="Shape 25"/>
          <p:cNvSpPr/>
          <p:nvPr/>
        </p:nvSpPr>
        <p:spPr>
          <a:xfrm>
            <a:off x="6583680" y="4069080"/>
            <a:ext cx="457200" cy="457200"/>
          </a:xfrm>
          <a:prstGeom prst="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223760" y="40690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Build: vite + esbuild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بناء المشروع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84848" y="4544568"/>
            <a:ext cx="73152" cy="2011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1" name="Shape 29"/>
          <p:cNvSpPr/>
          <p:nvPr/>
        </p:nvSpPr>
        <p:spPr>
          <a:xfrm>
            <a:off x="6583680" y="4754880"/>
            <a:ext cx="457200" cy="457200"/>
          </a:xfrm>
          <a:prstGeom prst="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23760" y="47548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Live on wassel.vercel.app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نشر مباشر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5029200"/>
            <a:ext cx="10972800" cy="1188720"/>
          </a:xfrm>
          <a:prstGeom prst="rect">
            <a:avLst>
              <a:gd name="adj" fmla="val 9231"/>
            </a:avLst>
          </a:prstGeom>
          <a:solidFill>
            <a:srgbClr val="1E3A5F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⚠️ ملاحظات مهمة للنشر | Important Deployment Notes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5577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لا تشارك مفاتيح API أبداً | Never share API keys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استخدم Vercel Environment Variables للمفاتيح | Use Vercel env vars for keys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اختبر على /api/health قبل أي تغيير | Test /api/health before changes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72400" y="6400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14 / 19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التقارير والتحليلات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Reports &amp; Analytics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554480"/>
            <a:ext cx="2743200" cy="2926080"/>
          </a:xfrm>
          <a:prstGeom prst="rect">
            <a:avLst>
              <a:gd name="adj" fmla="val 5000"/>
            </a:avLst>
          </a:prstGeom>
          <a:solidFill>
            <a:srgbClr val="F0F4F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تقرير المستخدمين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User Report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عدد المسجلين الجدد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معدل التحويل Free→Paid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المستخدمون الأكثر نشاطاً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معدل الاحتفاظ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554480"/>
            <a:ext cx="2743200" cy="2926080"/>
          </a:xfrm>
          <a:prstGeom prst="rect">
            <a:avLst>
              <a:gd name="adj" fmla="val 5000"/>
            </a:avLst>
          </a:prstGeom>
          <a:solidFill>
            <a:srgbClr val="F0F4F8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📧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00400" y="2103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تقرير الحملات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Campaign Report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26517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إجمالي الرسائل المرسلة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معدلات الفتح والرد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أفضل/أسوأ الحملات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ROI لكل حملة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554480"/>
            <a:ext cx="2743200" cy="2926080"/>
          </a:xfrm>
          <a:prstGeom prst="rect">
            <a:avLst>
              <a:gd name="adj" fmla="val 5000"/>
            </a:avLst>
          </a:prstGeom>
          <a:solidFill>
            <a:srgbClr val="F0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26480" y="2103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تقرير مالي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Financial Report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6517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MRR &amp; ARR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الإيرادات حسب الخطة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مشتريات التوكنات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معدل الـ Churn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52560" y="1554480"/>
            <a:ext cx="2743200" cy="2926080"/>
          </a:xfrm>
          <a:prstGeom prst="rect">
            <a:avLst>
              <a:gd name="adj" fmla="val 5000"/>
            </a:avLst>
          </a:prstGeom>
          <a:solidFill>
            <a:srgbClr val="F0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905256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052560" y="2103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تقرير تقني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Technical Report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35440" y="26517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وقت الاستجابة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معدل الأخطاء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استخدام API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أداء قاعدة البيانات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754880"/>
            <a:ext cx="10972800" cy="1463040"/>
          </a:xfrm>
          <a:prstGeom prst="rect">
            <a:avLst>
              <a:gd name="adj" fmla="val 9375"/>
            </a:avLst>
          </a:prstGeom>
          <a:solidFill>
            <a:srgbClr val="F0F4F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846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خيارات التصدير | Export Options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5303520"/>
            <a:ext cx="246888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349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CSV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5669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بيانات خام للتحليل | Raw data for analysis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383280" y="5303520"/>
            <a:ext cx="246888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5349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83280" y="5669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جداول منسقة مع رسوم بيانية | Formatted tables with charts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126480" y="5303520"/>
            <a:ext cx="246888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5349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26480" y="5669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تقارير رسمية للطباعة | Official printable reports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869680" y="5303520"/>
            <a:ext cx="246888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8869680" y="5349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869680" y="5669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تكامل مع أدوات خارجية | Integration with external tools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772400" y="6400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15 / 19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لوحة المقاييس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Metrics Dashboard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474720" cy="1371600"/>
          </a:xfrm>
          <a:prstGeom prst="rect">
            <a:avLst>
              <a:gd name="adj" fmla="val 8000"/>
            </a:avLst>
          </a:prstGeom>
          <a:solidFill>
            <a:srgbClr val="F0F4F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45,200 SAR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MRR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الإيرادات الشهرية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1645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0" y="1554480"/>
            <a:ext cx="3474720" cy="1371600"/>
          </a:xfrm>
          <a:prstGeom prst="rect">
            <a:avLst>
              <a:gd name="adj" fmla="val 8000"/>
            </a:avLst>
          </a:prstGeom>
          <a:solidFill>
            <a:srgbClr val="F0F4F8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0" y="16459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156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206240" y="21488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مستخدمون جدد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New Users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66560" y="1645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955280" y="1554480"/>
            <a:ext cx="3474720" cy="1371600"/>
          </a:xfrm>
          <a:prstGeom prst="rect">
            <a:avLst>
              <a:gd name="adj" fmla="val 8000"/>
            </a:avLst>
          </a:prstGeom>
          <a:solidFill>
            <a:srgbClr val="F0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0" y="16459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955280" y="21488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Churn 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معدل المغادرة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0" y="1645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-0.5%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3474720" cy="1371600"/>
          </a:xfrm>
          <a:prstGeom prst="rect">
            <a:avLst>
              <a:gd name="adj" fmla="val 8000"/>
            </a:avLst>
          </a:prstGeom>
          <a:solidFill>
            <a:srgbClr val="F0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918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57200" y="3794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NPS Score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مؤشر الرضا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17520" y="3291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06240" y="3200400"/>
            <a:ext cx="3474720" cy="1371600"/>
          </a:xfrm>
          <a:prstGeom prst="rect">
            <a:avLst>
              <a:gd name="adj" fmla="val 8000"/>
            </a:avLst>
          </a:prstGeom>
          <a:solidFill>
            <a:srgbClr val="F0F4F8"/>
          </a:solidFill>
          <a:ln/>
        </p:spPr>
      </p:sp>
      <p:sp>
        <p:nvSpPr>
          <p:cNvPr id="22" name="Text 20"/>
          <p:cNvSpPr/>
          <p:nvPr/>
        </p:nvSpPr>
        <p:spPr>
          <a:xfrm>
            <a:off x="4206240" y="32918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184 SAR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206240" y="3794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Avg Revenue/User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متوسط الإيراد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66560" y="3291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955280" y="3200400"/>
            <a:ext cx="3474720" cy="1371600"/>
          </a:xfrm>
          <a:prstGeom prst="rect">
            <a:avLst>
              <a:gd name="adj" fmla="val 8000"/>
            </a:avLst>
          </a:prstGeom>
          <a:solidFill>
            <a:srgbClr val="F0F4F8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0" y="32918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955280" y="3794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Support Tickets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تذاكر الدعم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515600" y="3291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-15%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5029200"/>
            <a:ext cx="10972800" cy="1188720"/>
          </a:xfrm>
          <a:prstGeom prst="rect">
            <a:avLst>
              <a:gd name="adj" fmla="val 9231"/>
            </a:avLst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التقارير المجدولة | Scheduled Reports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54864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يومي: ملخص النشاط | أسبوعي: تقرير الأداء | شهري: تقرير مالي شامل | ربع سنوي: تقرير استراتيجي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57607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Daily: Activity summary | Weekly: Performance report | Monthly: Comprehensive financial | Quarterly: Strategic report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6400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16 / 19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استكشاف الأخطاء وإصلاحها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Troubleshooting Guide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10972800" cy="1371600"/>
          </a:xfrm>
          <a:prstGeom prst="rect">
            <a:avLst>
              <a:gd name="adj" fmla="val 8000"/>
            </a:avLst>
          </a:prstGeom>
          <a:solidFill>
            <a:srgbClr val="F0F4F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❌ المستخدم لا يستطيع تسجيل الدخول | User cannot login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1. تحقق من حالة الحساب (نشط/محظور)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2. أعد تعيين كلمة المرور من لوحة التحكم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3. تحقق من تأكيد البريد الإلكتروني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4. راجع سجلات Supabase Auth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0" y="18745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Check account status (active/banned)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Reset password from admin panel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Verify email confirmation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Review Supabase Auth logs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10972800" cy="13716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89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❌ الحملة لا ترسل رسائل | Campaign not sending emails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1. تحقق من رصيد التوكنات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2. تحقق من حالة Discovery API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3. راجع معدل الارتجاع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4. تحقق من إعدادات SendGrid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0" y="34290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Check token balance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Check Discovery API status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Review bounce rate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Verify SendGrid settings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10972800" cy="1371600"/>
          </a:xfrm>
          <a:prstGeom prst="rect">
            <a:avLst>
              <a:gd name="adj" fmla="val 8000"/>
            </a:avLst>
          </a:prstGeom>
          <a:solidFill>
            <a:srgbClr val="F0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663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❌ خطأ في تحليل LinkedIn | LinkedIn analysis error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9834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1. تحقق من صلاحية رابط LinkedIn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2. تحقق من رصيد Claude API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3. راجع حجم الملف الشخصي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4. أعد المحاولة بعد 30 ثانية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49834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Verify LinkedIn URL validity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Check Claude API credits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Review profile size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Retry after 30 seconds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5486400"/>
            <a:ext cx="10972800" cy="731520"/>
          </a:xfrm>
          <a:prstGeom prst="rect">
            <a:avLst>
              <a:gd name="adj" fmla="val 15000"/>
            </a:avLst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577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🚨 في حالة الطوارئ: تواصل مع CTO علي | Emergency: Contact CTO Ali — ali@wassel.sa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0" y="6400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17 / 19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استكشاف الأخطاء المتقدم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Troubleshooting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أخطاء الخادم الشائعة | Common Server Errors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011680"/>
          <a:ext cx="114300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الخطأ | Error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السبب | Cause</a:t>
                      </a:r>
                      <a:endParaRPr lang="en-US" sz="9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الحل | Solution</a:t>
                      </a:r>
                      <a:endParaRPr lang="en-US" sz="9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500 Internal Error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خطأ في الخادم — عادة مفتاح API</a:t>
                      </a:r>
                      <a:endParaRPr lang="en-US" sz="8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تحقق من Environment Variables</a:t>
                      </a:r>
                      <a:endParaRPr lang="en-US" sz="8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6B3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401 Unauthorized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JWT منتهي أو غير صالح</a:t>
                      </a:r>
                      <a:endParaRPr lang="en-US" sz="8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أعد تسجيل الدخول / تحقق من Supabase</a:t>
                      </a:r>
                      <a:endParaRPr lang="en-US" sz="8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6B3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429 Rate Limited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تجاوز حد الاستخدام</a:t>
                      </a:r>
                      <a:endParaRPr lang="en-US" sz="8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انتظر وأعد المحاولة / ارفع الحد</a:t>
                      </a:r>
                      <a:endParaRPr lang="en-US" sz="8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FUNCTION_INVOCATION_FAILED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خطأ في Serverless Function</a:t>
                      </a:r>
                      <a:endParaRPr lang="en-US" sz="8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راجع Vercel Logs + أعد البناء</a:t>
                      </a:r>
                      <a:endParaRPr lang="en-US" sz="8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استكشاف أخطاء قاعدة البيانات | Database Troubleshooting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466344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🔍 استخدم Supabase Dashboard لعرض الجداول والبيانات مباشرة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4919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🔍 Use Supabase Dashboard to view tables and data directly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5175504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📋 تحقق من RLS policies إذا كان المستخدم لا يرى بياناته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54315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📋 Check RLS policies if user cannot see their data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" y="568756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⚡ راقب عدد الاتصالات المتزامنة (حد Supabase المجاني: 60)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" y="594360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Monitor concurrent connections (Supabase free tier limit: 60)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0080" y="619963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💾 استخدم pg_stat_statements لتتبع الاستعلامات البطيئة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0080" y="6455664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💾 Use pg_stat_statements to track slow queries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772400" y="6400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18 / 19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4937760" y="1371600"/>
            <a:ext cx="2286000" cy="2286000"/>
          </a:xfrm>
          <a:prstGeom prst="rect">
            <a:avLst>
              <a:gd name="adj" fmla="val 12000"/>
            </a:avLst>
          </a:prstGeom>
          <a:solidFill>
            <a:srgbClr val="2A4A6F"/>
          </a:solidFill>
          <a:ln/>
        </p:spPr>
      </p:sp>
      <p:sp>
        <p:nvSpPr>
          <p:cNvPr id="4" name="Text 2"/>
          <p:cNvSpPr/>
          <p:nvPr/>
        </p:nvSpPr>
        <p:spPr>
          <a:xfrm>
            <a:off x="4937760" y="16459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وصّل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937760" y="2834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WASSEL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شكراً لاستخدامك وصّل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 for Using Wassel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0" y="5303520"/>
            <a:ext cx="64008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B4C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📧 admin@wassel.sa  |  🌐 wassel.vercel.app  |  📱 تواصل معنا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سري — للاستخدام الداخلي فقط | Confidential — Internal Use Only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6400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© 2026 Wassel — All Rights Reserved | جميع الحقوق محفوظة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0" y="6400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19 / 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Wassel Admin Manual / دليل مدير وصّل</dc:title>
  <dc:subject>PptxGenJS Presentation</dc:subject>
  <dc:creator>Wassel (وصّل)</dc:creator>
  <cp:lastModifiedBy>Wassel (وصّل)</cp:lastModifiedBy>
  <cp:revision>1</cp:revision>
  <dcterms:created xsi:type="dcterms:W3CDTF">2026-04-09T06:05:50Z</dcterms:created>
  <dcterms:modified xsi:type="dcterms:W3CDTF">2026-04-09T06:05:50Z</dcterms:modified>
</cp:coreProperties>
</file>